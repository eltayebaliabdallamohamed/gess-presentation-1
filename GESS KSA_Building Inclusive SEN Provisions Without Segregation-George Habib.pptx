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1" r:id="rId5"/>
  </p:sldMasterIdLst>
  <p:notesMasterIdLst>
    <p:notesMasterId r:id="rId19"/>
  </p:notesMasterIdLst>
  <p:sldIdLst>
    <p:sldId id="266" r:id="rId6"/>
    <p:sldId id="269" r:id="rId7"/>
    <p:sldId id="268" r:id="rId8"/>
    <p:sldId id="267" r:id="rId9"/>
    <p:sldId id="260" r:id="rId10"/>
    <p:sldId id="270" r:id="rId11"/>
    <p:sldId id="271" r:id="rId12"/>
    <p:sldId id="261" r:id="rId13"/>
    <p:sldId id="272" r:id="rId14"/>
    <p:sldId id="262" r:id="rId15"/>
    <p:sldId id="273" r:id="rId16"/>
    <p:sldId id="263" r:id="rId17"/>
    <p:sldId id="264" r:id="rId1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1704" userDrawn="1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1B4E"/>
    <a:srgbClr val="1F0137"/>
    <a:srgbClr val="F5C826"/>
    <a:srgbClr val="A98B30"/>
    <a:srgbClr val="C6876C"/>
    <a:srgbClr val="243D36"/>
    <a:srgbClr val="154E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30" d="100"/>
          <a:sy n="30" d="100"/>
        </p:scale>
        <p:origin x="884" y="24"/>
      </p:cViewPr>
      <p:guideLst>
        <p:guide orient="horz" pos="1704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defTabSz="457200" rtl="0" latinLnBrk="0">
              <a:lnSpc>
                <a:spcPct val="117999"/>
              </a:lnSpc>
            </a:pP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7487517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7F030-817F-020B-C226-B748E7C8B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E58FA1-A3E6-B5B5-46FE-6157848A88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9FBCB2-68BD-42B5-1470-7A80B3339F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defTabSz="457200" rtl="0" latinLnBrk="0">
              <a:lnSpc>
                <a:spcPct val="117999"/>
              </a:lnSpc>
            </a:pP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9927389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211407" y="13081000"/>
            <a:ext cx="434413" cy="471924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>
            <a:spLocks noGrp="1"/>
          </p:cNvSpPr>
          <p:nvPr>
            <p:ph type="pic" idx="13"/>
          </p:nvPr>
        </p:nvSpPr>
        <p:spPr>
          <a:xfrm>
            <a:off x="3125968" y="673100"/>
            <a:ext cx="18135601" cy="8737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635000" y="9512300"/>
            <a:ext cx="23114000" cy="2006600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rgbClr val="1F0137"/>
                </a:solidFill>
              </a:defRPr>
            </a:lvl1pPr>
          </a:lstStyle>
          <a:p>
            <a:r>
              <a:rPr dirty="0"/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35000" y="11442700"/>
            <a:ext cx="23114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rPr dirty="0"/>
              <a:t>Body Level One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1778000" y="4533900"/>
            <a:ext cx="20828000" cy="46482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>
            <a:spLocks noGrp="1"/>
          </p:cNvSpPr>
          <p:nvPr>
            <p:ph type="pic" sz="half" idx="13"/>
          </p:nvPr>
        </p:nvSpPr>
        <p:spPr>
          <a:xfrm>
            <a:off x="13165980" y="952500"/>
            <a:ext cx="9525001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1651000" y="952500"/>
            <a:ext cx="10223500" cy="5549900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651000" y="6527800"/>
            <a:ext cx="10223500" cy="5727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half" idx="13"/>
          </p:nvPr>
        </p:nvSpPr>
        <p:spPr>
          <a:xfrm>
            <a:off x="13169900" y="3149600"/>
            <a:ext cx="9525000" cy="929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>
            <a:spLocks noGrp="1"/>
          </p:cNvSpPr>
          <p:nvPr>
            <p:ph type="pic" sz="quarter" idx="13"/>
          </p:nvPr>
        </p:nvSpPr>
        <p:spPr>
          <a:xfrm>
            <a:off x="15760700" y="7048500"/>
            <a:ext cx="7404100" cy="5549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Image"/>
          <p:cNvSpPr>
            <a:spLocks noGrp="1"/>
          </p:cNvSpPr>
          <p:nvPr>
            <p:ph type="pic" sz="quarter" idx="14"/>
          </p:nvPr>
        </p:nvSpPr>
        <p:spPr>
          <a:xfrm>
            <a:off x="15760700" y="1130300"/>
            <a:ext cx="7404100" cy="5549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Image"/>
          <p:cNvSpPr>
            <a:spLocks noGrp="1"/>
          </p:cNvSpPr>
          <p:nvPr>
            <p:ph type="pic" idx="15"/>
          </p:nvPr>
        </p:nvSpPr>
        <p:spPr>
          <a:xfrm>
            <a:off x="1206500" y="1130300"/>
            <a:ext cx="1417320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>
            <a:spLocks noGrp="1"/>
          </p:cNvSpPr>
          <p:nvPr>
            <p:ph type="body" sz="quarter" idx="13"/>
          </p:nvPr>
        </p:nvSpPr>
        <p:spPr>
          <a:xfrm>
            <a:off x="2387600" y="8953500"/>
            <a:ext cx="19621500" cy="58552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200" i="1"/>
            </a:lvl1pPr>
          </a:lstStyle>
          <a:p>
            <a:r>
              <a:t>–Johnny Appleseed</a:t>
            </a:r>
          </a:p>
        </p:txBody>
      </p:sp>
      <p:sp>
        <p:nvSpPr>
          <p:cNvPr id="94" name="“Type a quote here.”"/>
          <p:cNvSpPr txBox="1">
            <a:spLocks noGrp="1"/>
          </p:cNvSpPr>
          <p:nvPr>
            <p:ph type="body" sz="quarter" idx="14"/>
          </p:nvPr>
        </p:nvSpPr>
        <p:spPr>
          <a:xfrm>
            <a:off x="2387600" y="6076950"/>
            <a:ext cx="19621500" cy="8255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48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“Type a quote here.” </a:t>
            </a:r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>
            <a:spLocks noGrp="1"/>
          </p:cNvSpPr>
          <p:nvPr>
            <p:ph type="pic" idx="13"/>
          </p:nvPr>
        </p:nvSpPr>
        <p:spPr>
          <a:xfrm>
            <a:off x="0" y="0"/>
            <a:ext cx="24384000" cy="13716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9C59B-51C7-B296-633F-C589A3A11D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244725"/>
            <a:ext cx="18288000" cy="47752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8E1A8A-99CA-5E00-37B4-B30969F51C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7204075"/>
            <a:ext cx="18288000" cy="33115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9E6F3-E711-EA7E-ADBF-D0387095B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68349-1630-294E-B921-996A328A2255}" type="datetimeFigureOut">
              <a:rPr lang="en-AE" smtClean="0"/>
              <a:t>24/09/2026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A3A92A-2A04-5EA4-0ACD-93C03E50E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33370-BD6C-8371-9004-14BEDBD0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113CD-C847-4146-964E-D65B7021063E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683011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08B73-E5E2-AA91-6747-766A58B14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B7A92-E3EC-7DB8-70F2-EA9B2763C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C82EA6-CA88-2DB8-FBD1-9BC77610E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68349-1630-294E-B921-996A328A2255}" type="datetimeFigureOut">
              <a:rPr lang="en-AE" smtClean="0"/>
              <a:t>24/09/2026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C9DE97-7E32-33A2-2918-C41B60B24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F8A70-2514-E8FC-074F-B2582FF40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113CD-C847-4146-964E-D65B7021063E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8948912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3B55B-2083-9743-229B-7E36B6D32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75"/>
            <a:ext cx="21031200" cy="570547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B297A9-D62E-CC54-A009-D8C4F4ED4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25"/>
            <a:ext cx="21031200" cy="30003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DCAD8E-BA84-6DD6-3E3B-AAC9736C1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68349-1630-294E-B921-996A328A2255}" type="datetimeFigureOut">
              <a:rPr lang="en-AE" smtClean="0"/>
              <a:t>24/09/2026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B6B24-DEDA-08B9-7A12-85A9408E7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9BEE5-3340-3C42-388C-372C0297B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113CD-C847-4146-964E-D65B7021063E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6990497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5A43A-C45C-BF0F-6598-2CF07CE0C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F5DA3-2160-B9A4-D878-056EC90E99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439400" cy="8702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00CAB9-AF44-DEB2-7607-BD5F573992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268200" y="3651250"/>
            <a:ext cx="10439400" cy="8702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6E75F9-3559-872F-03C1-BB8EA8949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68349-1630-294E-B921-996A328A2255}" type="datetimeFigureOut">
              <a:rPr lang="en-AE" smtClean="0"/>
              <a:t>24/09/2026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C66B20-3E85-F273-AD24-461B16A70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DBC466-46BD-E0C7-9EB0-174C04D59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113CD-C847-4146-964E-D65B7021063E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6417082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5001B-1A91-B89C-B2CF-16C1BADE5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730250"/>
            <a:ext cx="21031200" cy="26511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89C479-D1CE-FC57-1A42-C9223FE0FA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575" y="3362325"/>
            <a:ext cx="10315575" cy="16478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03D39A-CA12-CF50-3F2F-E137FBADC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575" y="5010150"/>
            <a:ext cx="10315575" cy="7369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CA046-37AE-CFCE-93AE-588AA92AFA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3362325"/>
            <a:ext cx="10366375" cy="16478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8FA633-8CA6-FD66-B309-08D22DFC19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5" cy="7369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3CA130-B51D-C10E-6171-40BF4A9D8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68349-1630-294E-B921-996A328A2255}" type="datetimeFigureOut">
              <a:rPr lang="en-AE" smtClean="0"/>
              <a:t>24/09/2026</a:t>
            </a:fld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77F085-E886-78CC-34A5-50646CA58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571115-B36C-0A6F-A6BD-F1CD6E112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113CD-C847-4146-964E-D65B7021063E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5976928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E850A-BD26-412C-5CAA-C2DF8CD7C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8CC60-6319-4A46-7479-8B85E967A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68349-1630-294E-B921-996A328A2255}" type="datetimeFigureOut">
              <a:rPr lang="en-AE" smtClean="0"/>
              <a:t>24/09/2026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3AE229-38D9-2EE9-F653-E0FA21039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ED4534-38DB-7928-1297-749F2511F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113CD-C847-4146-964E-D65B7021063E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3631137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92BF75-B484-32B2-28A9-A882B1F1D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68349-1630-294E-B921-996A328A2255}" type="datetimeFigureOut">
              <a:rPr lang="en-AE" smtClean="0"/>
              <a:t>24/09/2026</a:t>
            </a:fld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47DB14-8840-5C22-988C-0876CEC5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8E7F33-8447-1A91-134E-FC6399488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113CD-C847-4146-964E-D65B7021063E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5520512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0140A-794B-BD21-4DD1-6B8AAE54B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C9CEB-03F7-057C-200F-DF3C08D89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5" y="1974850"/>
            <a:ext cx="12344400" cy="9747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4EDA6B-00DC-CE69-981C-3D7586F16D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DF012E-3AF7-C010-019D-110DDE6F8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68349-1630-294E-B921-996A328A2255}" type="datetimeFigureOut">
              <a:rPr lang="en-AE" smtClean="0"/>
              <a:t>24/09/2026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5CE2FC-6726-CA6E-FDBC-F1004EF41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433F3D-267E-9E9F-2D3F-E009E5C3E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113CD-C847-4146-964E-D65B7021063E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0088867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04D1D-E1B4-C945-74D0-8F2DFADC8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90D5CD-2672-28D5-2042-D12BFD76DE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5" y="1974850"/>
            <a:ext cx="12344400" cy="9747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0A0BCB-FE4A-9E4A-F034-913D1B600F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056324-3FAF-7680-93CB-C494BC439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68349-1630-294E-B921-996A328A2255}" type="datetimeFigureOut">
              <a:rPr lang="en-AE" smtClean="0"/>
              <a:t>24/09/2026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4C5497-DD93-6CB4-9979-33B9698E8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7E0A7B-910E-61EE-C874-F3B6E6053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113CD-C847-4146-964E-D65B7021063E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457577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C9F8B-12E4-1DA3-44D3-597FDA7CB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9D68CA-6071-C755-C9D5-AB2A19CF5A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FC60DA-F0DD-D252-31E0-E2CEB1007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68349-1630-294E-B921-996A328A2255}" type="datetimeFigureOut">
              <a:rPr lang="en-AE" smtClean="0"/>
              <a:t>24/09/2026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F3E8D-A70D-DBE8-441A-9CD7DAA9D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795E7D-B2CB-14D1-420C-A59AEBF6F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113CD-C847-4146-964E-D65B7021063E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3057725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EDFCC7-C8B0-63E3-9067-2EEBD55C44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A5CAD5-FAFC-4310-823A-C75140C0E8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621000" cy="11623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CE86EA-B9C6-ADD0-D7E0-520DF9D29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68349-1630-294E-B921-996A328A2255}" type="datetimeFigureOut">
              <a:rPr lang="en-AE" smtClean="0"/>
              <a:t>24/09/2026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226442-7148-07E7-E9D3-BFBBF806E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76E459-2B6E-1CA3-F7FA-6F3AEDB52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113CD-C847-4146-964E-D65B7021063E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579613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7AD9436-792A-7F29-709D-6E0A50F41E40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rPr dirty="0"/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232188" y="13081000"/>
            <a:ext cx="434413" cy="47192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 b="0">
                <a:solidFill>
                  <a:schemeClr val="bg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rPr lang="en-AE" smtClean="0"/>
              <a:pPr/>
              <a:t>‹#›</a:t>
            </a:fld>
            <a:endParaRPr lang="en-A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1F0137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D5058F-8D02-BB67-D2B3-DC05C816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24D941-FC3A-F2CE-BCD0-DD32B467A7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C8DA0-1C95-639D-01DA-B8965A7FD7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76400" y="12712700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D68349-1630-294E-B921-996A328A2255}" type="datetimeFigureOut">
              <a:rPr lang="en-AE" smtClean="0"/>
              <a:t>24/09/2026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2F95D-0350-F97F-1A7F-91CDA92B31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200" y="12712700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F7E883-9464-3A60-3180-82611C7561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221200" y="12712700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B113CD-C847-4146-964E-D65B7021063E}" type="slidenum">
              <a:rPr lang="en-AE" smtClean="0"/>
              <a:t>‹#›</a:t>
            </a:fld>
            <a:endParaRPr lang="en-A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03FDC7-CC86-74E2-D779-F46ACF6115E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9" name="Slide Number">
            <a:extLst>
              <a:ext uri="{FF2B5EF4-FFF2-40B4-BE49-F238E27FC236}">
                <a16:creationId xmlns:a16="http://schemas.microsoft.com/office/drawing/2014/main" id="{59C0F8FD-A0BC-710C-05DA-CEBCD99ACF55}"/>
              </a:ext>
            </a:extLst>
          </p:cNvPr>
          <p:cNvSpPr txBox="1">
            <a:spLocks/>
          </p:cNvSpPr>
          <p:nvPr userDrawn="1"/>
        </p:nvSpPr>
        <p:spPr>
          <a:xfrm>
            <a:off x="23232188" y="13081000"/>
            <a:ext cx="434413" cy="47192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indent="2286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indent="4572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indent="6858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indent="9144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indent="11430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indent="13716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indent="16002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indent="18288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fld id="{86CB4B4D-7CA3-9044-876B-883B54F8677D}" type="slidenum">
              <a:rPr lang="en-AE" smtClean="0"/>
              <a:pPr/>
              <a:t>‹#›</a:t>
            </a:fld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788436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mailto:George.habib@beechhallschoolriyadh.com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7A0A9A2-30EC-A286-93F3-C09A2C8C8A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120" name="Use Arial bold 65pt size for title text here"/>
          <p:cNvSpPr txBox="1"/>
          <p:nvPr/>
        </p:nvSpPr>
        <p:spPr>
          <a:xfrm>
            <a:off x="5155206" y="3750528"/>
            <a:ext cx="15025389" cy="5103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algn="r">
              <a:defRPr sz="6500">
                <a:solidFill>
                  <a:schemeClr val="accent1">
                    <a:lumOff val="-13575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/>
            <a:r>
              <a:rPr lang="en-US" dirty="0">
                <a:solidFill>
                  <a:srgbClr val="291B4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Building Inclusive SEN Provisions Without Segregation</a:t>
            </a:r>
          </a:p>
          <a:p>
            <a:pPr algn="l"/>
            <a:endParaRPr lang="en-US" dirty="0">
              <a:solidFill>
                <a:srgbClr val="291B4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dirty="0">
                <a:solidFill>
                  <a:srgbClr val="291B4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George Habib, M.Ed. | Head of SEN Unit - Beech Hall School Riyadh</a:t>
            </a:r>
            <a:endParaRPr dirty="0">
              <a:solidFill>
                <a:srgbClr val="291B4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Use Arial regular 24pt size for sub-title text here"/>
          <p:cNvSpPr txBox="1"/>
          <p:nvPr/>
        </p:nvSpPr>
        <p:spPr>
          <a:xfrm>
            <a:off x="5155206" y="9284697"/>
            <a:ext cx="13632550" cy="13336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defRPr sz="4000" b="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/>
            <a:r>
              <a:rPr lang="en-US" dirty="0">
                <a:solidFill>
                  <a:srgbClr val="291B4E"/>
                </a:solidFill>
                <a:latin typeface="FilsonW01-Medium" panose="02000000000000000000" pitchFamily="2" charset="0"/>
              </a:rPr>
              <a:t>Designing, funding and embedding SEN provision that includes rather than isolates</a:t>
            </a:r>
          </a:p>
        </p:txBody>
      </p:sp>
    </p:spTree>
    <p:extLst>
      <p:ext uri="{BB962C8B-B14F-4D97-AF65-F5344CB8AC3E}">
        <p14:creationId xmlns:p14="http://schemas.microsoft.com/office/powerpoint/2010/main" val="2731333932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se Arial bold 50pt size for title text here">
            <a:extLst>
              <a:ext uri="{FF2B5EF4-FFF2-40B4-BE49-F238E27FC236}">
                <a16:creationId xmlns:a16="http://schemas.microsoft.com/office/drawing/2014/main" id="{E5F4A697-FFC3-4DA2-9FB9-DEA35DDED358}"/>
              </a:ext>
            </a:extLst>
          </p:cNvPr>
          <p:cNvSpPr txBox="1"/>
          <p:nvPr/>
        </p:nvSpPr>
        <p:spPr>
          <a:xfrm>
            <a:off x="2188868" y="2516733"/>
            <a:ext cx="17641980" cy="8720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sz="5000">
                <a:solidFill>
                  <a:schemeClr val="accent1">
                    <a:lumOff val="-13575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dirty="0">
                <a:solidFill>
                  <a:srgbClr val="1F0137"/>
                </a:solidFill>
              </a:rPr>
              <a:t>The Starting Point</a:t>
            </a:r>
          </a:p>
        </p:txBody>
      </p:sp>
      <p:sp>
        <p:nvSpPr>
          <p:cNvPr id="10" name="Use Arial regular 35pt size for sub-title text here">
            <a:extLst>
              <a:ext uri="{FF2B5EF4-FFF2-40B4-BE49-F238E27FC236}">
                <a16:creationId xmlns:a16="http://schemas.microsoft.com/office/drawing/2014/main" id="{A03E9B35-7331-4E3B-8E49-8D4FD65E219A}"/>
              </a:ext>
            </a:extLst>
          </p:cNvPr>
          <p:cNvSpPr txBox="1"/>
          <p:nvPr/>
        </p:nvSpPr>
        <p:spPr>
          <a:xfrm>
            <a:off x="2210498" y="3673550"/>
            <a:ext cx="13632550" cy="64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sz="3500" b="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dirty="0"/>
              <a:t>What "no provision" actually looks like</a:t>
            </a:r>
            <a:endParaRPr dirty="0"/>
          </a:p>
        </p:txBody>
      </p:sp>
      <p:sp>
        <p:nvSpPr>
          <p:cNvPr id="11" name="Use Arial regular 24pt size for body copy text here…">
            <a:extLst>
              <a:ext uri="{FF2B5EF4-FFF2-40B4-BE49-F238E27FC236}">
                <a16:creationId xmlns:a16="http://schemas.microsoft.com/office/drawing/2014/main" id="{860C2AFE-BF5A-495F-8379-8884D6C8F26D}"/>
              </a:ext>
            </a:extLst>
          </p:cNvPr>
          <p:cNvSpPr txBox="1"/>
          <p:nvPr/>
        </p:nvSpPr>
        <p:spPr>
          <a:xfrm>
            <a:off x="2141334" y="4900677"/>
            <a:ext cx="10463511" cy="60119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/>
              <a:t>The school already had inclusion. It worked, and it was full.</a:t>
            </a:r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endParaRPr lang="en-US" dirty="0"/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/>
              <a:t>• An established inclusion team, operating at maximum caseload</a:t>
            </a:r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endParaRPr lang="en-US" dirty="0"/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/>
              <a:t>• Children with high-acuity needs arriving faster than capacity could absorb them</a:t>
            </a:r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endParaRPr lang="en-US" dirty="0"/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/>
              <a:t>• Support stretched thin across too many profiles to stay specialist</a:t>
            </a:r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endParaRPr lang="en-US" dirty="0"/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/>
              <a:t>• Families with complex needs quietly advised to look elsewhere</a:t>
            </a:r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endParaRPr lang="en-US" dirty="0"/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/>
              <a:t>• No tier of provision between "mainstream with support" and "not this school"</a:t>
            </a:r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endParaRPr lang="en-US" dirty="0"/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/>
              <a:t>I was hired to build that missing tier; without pulling those children out of the community.</a:t>
            </a:r>
            <a:endParaRPr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BA9FA9B5-2D3D-5BAA-8613-6823C7D5660B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244122" y="12971272"/>
            <a:ext cx="434413" cy="471924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2</a:t>
            </a:fld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C8AA76-AA6D-6142-CDA7-2860059108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3823" y="1935126"/>
            <a:ext cx="11073690" cy="94842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738236177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Use Arial bold 50pt size for title text here"/>
          <p:cNvSpPr txBox="1"/>
          <p:nvPr/>
        </p:nvSpPr>
        <p:spPr>
          <a:xfrm>
            <a:off x="2188868" y="2516733"/>
            <a:ext cx="17641980" cy="8720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sz="5000">
                <a:solidFill>
                  <a:schemeClr val="accent1">
                    <a:lumOff val="-13575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dirty="0">
                <a:solidFill>
                  <a:srgbClr val="1F0137"/>
                </a:solidFill>
              </a:rPr>
              <a:t>Three Decisions That Shaped Everything</a:t>
            </a:r>
          </a:p>
        </p:txBody>
      </p:sp>
      <p:sp>
        <p:nvSpPr>
          <p:cNvPr id="125" name="Use Arial regular 35pt size for sub-title text here"/>
          <p:cNvSpPr txBox="1"/>
          <p:nvPr/>
        </p:nvSpPr>
        <p:spPr>
          <a:xfrm>
            <a:off x="2210498" y="3673550"/>
            <a:ext cx="13632550" cy="64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sz="3500" b="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dirty="0"/>
              <a:t>Made before a single riyal was spent</a:t>
            </a:r>
            <a:endParaRPr dirty="0"/>
          </a:p>
        </p:txBody>
      </p:sp>
      <p:sp>
        <p:nvSpPr>
          <p:cNvPr id="126" name="Use Arial regular 24pt size for body copy text here…"/>
          <p:cNvSpPr txBox="1"/>
          <p:nvPr/>
        </p:nvSpPr>
        <p:spPr>
          <a:xfrm>
            <a:off x="2210498" y="5644563"/>
            <a:ext cx="19963004" cy="30572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/>
              <a:t>1. The ratio comes first.</a:t>
            </a:r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/>
              <a:t>Six children, three adults. Everything else, space, resources, timetable, was designed around that number and defended against it.</a:t>
            </a:r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endParaRPr lang="en-US" dirty="0"/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/>
              <a:t>2. Needs-led, not label-led.</a:t>
            </a:r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/>
              <a:t>Children are grouped by what they need to access their day, not by diagnosis or age.</a:t>
            </a:r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endParaRPr lang="en-US" dirty="0"/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/>
              <a:t>3. Belonging is built into the school calendar.</a:t>
            </a:r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/>
              <a:t>Not an add-on, not a visit. Every child on the school's list for assemblies, National Day, sports day, trips and performances.</a:t>
            </a:r>
            <a:endParaRPr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B802A097-432B-80EE-939D-02897CA65CD6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210656" y="13007848"/>
            <a:ext cx="434413" cy="471924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3</a:t>
            </a:fld>
            <a:endParaRPr dirty="0"/>
          </a:p>
        </p:txBody>
      </p:sp>
      <p:pic>
        <p:nvPicPr>
          <p:cNvPr id="3" name="BHSR logo 17Apr23_BHSR Main Gold.png" descr="BHSR logo 17Apr23_BHSR Main Gold.png">
            <a:extLst>
              <a:ext uri="{FF2B5EF4-FFF2-40B4-BE49-F238E27FC236}">
                <a16:creationId xmlns:a16="http://schemas.microsoft.com/office/drawing/2014/main" id="{D6568CE4-A206-F9F5-0AB3-06B6C8E9A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1054" y="6858000"/>
            <a:ext cx="3549602" cy="532736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7759917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se Arial bold 50pt size for title text here">
            <a:extLst>
              <a:ext uri="{FF2B5EF4-FFF2-40B4-BE49-F238E27FC236}">
                <a16:creationId xmlns:a16="http://schemas.microsoft.com/office/drawing/2014/main" id="{41294CEE-3C90-4F8E-A7CA-FA5D43F26E55}"/>
              </a:ext>
            </a:extLst>
          </p:cNvPr>
          <p:cNvSpPr txBox="1"/>
          <p:nvPr/>
        </p:nvSpPr>
        <p:spPr>
          <a:xfrm>
            <a:off x="2188868" y="2516733"/>
            <a:ext cx="17641980" cy="8720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sz="5000">
                <a:solidFill>
                  <a:schemeClr val="accent1">
                    <a:lumOff val="-13575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dirty="0">
                <a:solidFill>
                  <a:srgbClr val="1F0137"/>
                </a:solidFill>
              </a:rPr>
              <a:t>Simple by Design</a:t>
            </a:r>
          </a:p>
        </p:txBody>
      </p:sp>
      <p:sp>
        <p:nvSpPr>
          <p:cNvPr id="10" name="Use Arial regular 35pt size for sub-title text here">
            <a:extLst>
              <a:ext uri="{FF2B5EF4-FFF2-40B4-BE49-F238E27FC236}">
                <a16:creationId xmlns:a16="http://schemas.microsoft.com/office/drawing/2014/main" id="{2ED79F6A-7FBC-4F4E-AD8B-3996A32CFC78}"/>
              </a:ext>
            </a:extLst>
          </p:cNvPr>
          <p:cNvSpPr txBox="1"/>
          <p:nvPr/>
        </p:nvSpPr>
        <p:spPr>
          <a:xfrm>
            <a:off x="2210498" y="3673550"/>
            <a:ext cx="13632550" cy="64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sz="3500" b="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dirty="0"/>
              <a:t>The classroom had to be safe, compliant, and quiet</a:t>
            </a:r>
            <a:endParaRPr dirty="0"/>
          </a:p>
        </p:txBody>
      </p:sp>
      <p:sp>
        <p:nvSpPr>
          <p:cNvPr id="11" name="Use Arial regular 24pt size for body copy text here…">
            <a:extLst>
              <a:ext uri="{FF2B5EF4-FFF2-40B4-BE49-F238E27FC236}">
                <a16:creationId xmlns:a16="http://schemas.microsoft.com/office/drawing/2014/main" id="{83853118-C99D-44C2-AE2F-2B3C43BBF925}"/>
              </a:ext>
            </a:extLst>
          </p:cNvPr>
          <p:cNvSpPr txBox="1"/>
          <p:nvPr/>
        </p:nvSpPr>
        <p:spPr>
          <a:xfrm>
            <a:off x="2210498" y="4963224"/>
            <a:ext cx="19963004" cy="44199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lnSpc>
                <a:spcPct val="200000"/>
              </a:lnSpc>
              <a:defRPr sz="2400" b="0"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0" dirty="0">
                <a:latin typeface="Arial"/>
                <a:sym typeface="Arial"/>
              </a:rPr>
              <a:t>Every item in the room passed three tests: is it safe, is it compliant, does it earn its place? </a:t>
            </a:r>
          </a:p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  <a:defRPr sz="2400" b="0"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0" dirty="0">
                <a:latin typeface="Arial"/>
                <a:sym typeface="Arial"/>
              </a:rPr>
              <a:t>All equipment and materials selected against school safeguarding policy before purchase, not after</a:t>
            </a:r>
          </a:p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  <a:defRPr sz="2400" b="0"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0" dirty="0">
                <a:latin typeface="Arial"/>
                <a:sym typeface="Arial"/>
              </a:rPr>
              <a:t>Visual simplicity as a teaching decision, uncluttered walls, closed storage, limited </a:t>
            </a:r>
            <a:r>
              <a:rPr lang="en-US" sz="2400" b="0" dirty="0" err="1">
                <a:latin typeface="Arial"/>
                <a:sym typeface="Arial"/>
              </a:rPr>
              <a:t>colour</a:t>
            </a:r>
            <a:r>
              <a:rPr lang="en-US" sz="2400" b="0" dirty="0">
                <a:latin typeface="Arial"/>
                <a:sym typeface="Arial"/>
              </a:rPr>
              <a:t> </a:t>
            </a:r>
          </a:p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  <a:defRPr sz="2400" b="0"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0" dirty="0">
                <a:latin typeface="Arial"/>
                <a:sym typeface="Arial"/>
              </a:rPr>
              <a:t>Resources rotated in and out by need, not displayed all at once </a:t>
            </a:r>
          </a:p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  <a:defRPr sz="2400" b="0"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0" dirty="0">
                <a:latin typeface="Arial"/>
                <a:sym typeface="Arial"/>
              </a:rPr>
              <a:t>Nothing clinical. </a:t>
            </a:r>
          </a:p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  <a:defRPr sz="2400" b="0"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0" dirty="0">
                <a:latin typeface="Arial"/>
                <a:sym typeface="Arial"/>
              </a:rPr>
              <a:t>The room reads as classroom, because that is what it is a busy room competes with the teacher. For high-acuity needs, it wins.</a:t>
            </a:r>
            <a:endParaRPr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5723490B-916B-DDBC-AAD3-3FCD01F6ED08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184340" y="12989560"/>
            <a:ext cx="434413" cy="471924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4</a:t>
            </a:fld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A956D8-1625-0643-2EBB-E108E045D08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29227" y="851515"/>
            <a:ext cx="6086083" cy="703459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751248399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Use Arial bold 50pt size for title text here"/>
          <p:cNvSpPr txBox="1"/>
          <p:nvPr/>
        </p:nvSpPr>
        <p:spPr>
          <a:xfrm>
            <a:off x="2188868" y="2516733"/>
            <a:ext cx="17641980" cy="8720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sz="5000">
                <a:solidFill>
                  <a:schemeClr val="accent1">
                    <a:lumOff val="-13575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1"/>
            <a:r>
              <a:rPr lang="en-US" sz="5000" dirty="0">
                <a:solidFill>
                  <a:srgbClr val="1F01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Single Curriculum Fits</a:t>
            </a:r>
          </a:p>
        </p:txBody>
      </p:sp>
      <p:sp>
        <p:nvSpPr>
          <p:cNvPr id="141" name="Use Arial regular 35pt size for sub-title text here"/>
          <p:cNvSpPr txBox="1"/>
          <p:nvPr/>
        </p:nvSpPr>
        <p:spPr>
          <a:xfrm>
            <a:off x="2210498" y="3673550"/>
            <a:ext cx="13632550" cy="64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sz="3500" b="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dirty="0"/>
              <a:t>The IEP is the curriculum</a:t>
            </a:r>
            <a:endParaRPr dirty="0"/>
          </a:p>
        </p:txBody>
      </p:sp>
      <p:sp>
        <p:nvSpPr>
          <p:cNvPr id="142" name="Use Arial regular 24pt size for body copy text here…"/>
          <p:cNvSpPr txBox="1"/>
          <p:nvPr/>
        </p:nvSpPr>
        <p:spPr>
          <a:xfrm>
            <a:off x="2210498" y="5090565"/>
            <a:ext cx="19963004" cy="41652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/>
              <a:t>We did not adopt one methodology. We built each child's </a:t>
            </a:r>
            <a:r>
              <a:rPr lang="en-US" dirty="0" err="1"/>
              <a:t>programme</a:t>
            </a:r>
            <a:r>
              <a:rPr lang="en-US" dirty="0"/>
              <a:t> from the approaches their profile actually called for.</a:t>
            </a:r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endParaRPr lang="en-US" dirty="0"/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/>
              <a:t>• SCERTS : social communication, emotional regulation, transactional support</a:t>
            </a:r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endParaRPr lang="en-US" dirty="0"/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/>
              <a:t>• TEACCH : structure, visual systems, predictable routines</a:t>
            </a:r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endParaRPr lang="en-US" dirty="0"/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/>
              <a:t>• ABA-informed strategies : where targeted skill acquisition was the priority</a:t>
            </a:r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endParaRPr lang="en-US" dirty="0"/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/>
              <a:t>• Early years play-based learning as the constant thread throughout</a:t>
            </a:r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endParaRPr lang="en-US" dirty="0"/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/>
              <a:t>Each child's IEP names which approaches are being used, for which goals, and why.</a:t>
            </a:r>
            <a:endParaRPr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536C6449-67CF-5E01-7B49-3A5229A96CC7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5</a:t>
            </a:fld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87EDD-5480-E777-55A6-9DF7757BD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Use Arial bold 50pt size for title text here">
            <a:extLst>
              <a:ext uri="{FF2B5EF4-FFF2-40B4-BE49-F238E27FC236}">
                <a16:creationId xmlns:a16="http://schemas.microsoft.com/office/drawing/2014/main" id="{2AF0732B-714F-9576-30EF-DF0065F0DD18}"/>
              </a:ext>
            </a:extLst>
          </p:cNvPr>
          <p:cNvSpPr txBox="1"/>
          <p:nvPr/>
        </p:nvSpPr>
        <p:spPr>
          <a:xfrm>
            <a:off x="2188868" y="2516733"/>
            <a:ext cx="17641980" cy="8720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sz="5000">
                <a:solidFill>
                  <a:schemeClr val="accent1">
                    <a:lumOff val="-13575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1"/>
            <a:r>
              <a:rPr lang="en-US" sz="5000" dirty="0">
                <a:solidFill>
                  <a:srgbClr val="1F01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Team Around Each Child</a:t>
            </a:r>
          </a:p>
        </p:txBody>
      </p:sp>
      <p:sp>
        <p:nvSpPr>
          <p:cNvPr id="141" name="Use Arial regular 35pt size for sub-title text here">
            <a:extLst>
              <a:ext uri="{FF2B5EF4-FFF2-40B4-BE49-F238E27FC236}">
                <a16:creationId xmlns:a16="http://schemas.microsoft.com/office/drawing/2014/main" id="{ED5FC521-1516-AFC4-6A74-5831DBE94715}"/>
              </a:ext>
            </a:extLst>
          </p:cNvPr>
          <p:cNvSpPr txBox="1"/>
          <p:nvPr/>
        </p:nvSpPr>
        <p:spPr>
          <a:xfrm>
            <a:off x="2210498" y="3673550"/>
            <a:ext cx="13632550" cy="64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sz="3500" b="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dirty="0"/>
              <a:t>Multidisciplinary in practice, not on paper</a:t>
            </a:r>
            <a:endParaRPr dirty="0"/>
          </a:p>
        </p:txBody>
      </p:sp>
      <p:sp>
        <p:nvSpPr>
          <p:cNvPr id="142" name="Use Arial regular 24pt size for body copy text here…">
            <a:extLst>
              <a:ext uri="{FF2B5EF4-FFF2-40B4-BE49-F238E27FC236}">
                <a16:creationId xmlns:a16="http://schemas.microsoft.com/office/drawing/2014/main" id="{B99BEE60-EB9C-1518-48BA-DB95CC309180}"/>
              </a:ext>
            </a:extLst>
          </p:cNvPr>
          <p:cNvSpPr txBox="1"/>
          <p:nvPr/>
        </p:nvSpPr>
        <p:spPr>
          <a:xfrm>
            <a:off x="2210498" y="4721233"/>
            <a:ext cx="19963004" cy="4903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/>
              <a:t>Class team: SEN specialist · HLTA · care assistant</a:t>
            </a:r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endParaRPr lang="en-US" dirty="0"/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/>
              <a:t>Plus, for every child:</a:t>
            </a:r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endParaRPr lang="en-US" dirty="0"/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/>
              <a:t>• SLP and OT pull-out sessions; twice weekly</a:t>
            </a:r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endParaRPr lang="en-US" dirty="0"/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/>
              <a:t>• A weekly group OT and SLP session delivered inside the classroom, with the class team present</a:t>
            </a:r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endParaRPr lang="en-US" dirty="0"/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/>
              <a:t>• Therapy targets written into the IEP, not held separately</a:t>
            </a:r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endParaRPr lang="en-US" dirty="0"/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/>
              <a:t>• The class team carries therapy strategies through the rest of the week</a:t>
            </a:r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endParaRPr lang="en-US" dirty="0"/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r>
              <a:rPr lang="en-US" u="sng" dirty="0">
                <a:solidFill>
                  <a:srgbClr val="FF0000"/>
                </a:solidFill>
              </a:rPr>
              <a:t>Therapists who only ever work in their own rooms create knowledge the classroom never receives.</a:t>
            </a:r>
            <a:endParaRPr u="sng" dirty="0">
              <a:solidFill>
                <a:srgbClr val="FF0000"/>
              </a:solidFill>
            </a:endParaRP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12BEA53A-5592-6E60-F80E-CFD60B3D382F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6</a:t>
            </a:fld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326478-954D-F9EB-F511-A45BC7B925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89" t="20476" b="16825"/>
          <a:stretch>
            <a:fillRect/>
          </a:stretch>
        </p:blipFill>
        <p:spPr>
          <a:xfrm rot="5400000">
            <a:off x="17100207" y="4042428"/>
            <a:ext cx="5916529" cy="62430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78343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CB84D-4A9B-8980-F181-93409AC02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Use Arial bold 50pt size for title text here">
            <a:extLst>
              <a:ext uri="{FF2B5EF4-FFF2-40B4-BE49-F238E27FC236}">
                <a16:creationId xmlns:a16="http://schemas.microsoft.com/office/drawing/2014/main" id="{D9ED998E-42AD-8E32-1D8A-0DFF6FD6E881}"/>
              </a:ext>
            </a:extLst>
          </p:cNvPr>
          <p:cNvSpPr txBox="1"/>
          <p:nvPr/>
        </p:nvSpPr>
        <p:spPr>
          <a:xfrm>
            <a:off x="2188868" y="2516733"/>
            <a:ext cx="17641980" cy="8720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sz="5000">
                <a:solidFill>
                  <a:schemeClr val="accent1">
                    <a:lumOff val="-13575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1"/>
            <a:r>
              <a:rPr lang="en-US" sz="5000" dirty="0"/>
              <a:t>Assess, Plan, Review, Repeat</a:t>
            </a:r>
            <a:endParaRPr lang="en-US" sz="5000" dirty="0">
              <a:solidFill>
                <a:srgbClr val="1F013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1" name="Use Arial regular 35pt size for sub-title text here">
            <a:extLst>
              <a:ext uri="{FF2B5EF4-FFF2-40B4-BE49-F238E27FC236}">
                <a16:creationId xmlns:a16="http://schemas.microsoft.com/office/drawing/2014/main" id="{EF795DA1-8148-7CB0-B9D6-398F63098937}"/>
              </a:ext>
            </a:extLst>
          </p:cNvPr>
          <p:cNvSpPr txBox="1"/>
          <p:nvPr/>
        </p:nvSpPr>
        <p:spPr>
          <a:xfrm>
            <a:off x="2210498" y="3673550"/>
            <a:ext cx="13632550" cy="64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sz="3500" b="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dirty="0"/>
              <a:t>The cycle that keeps provision honest</a:t>
            </a:r>
            <a:endParaRPr dirty="0"/>
          </a:p>
        </p:txBody>
      </p:sp>
      <p:sp>
        <p:nvSpPr>
          <p:cNvPr id="142" name="Use Arial regular 24pt size for body copy text here…">
            <a:extLst>
              <a:ext uri="{FF2B5EF4-FFF2-40B4-BE49-F238E27FC236}">
                <a16:creationId xmlns:a16="http://schemas.microsoft.com/office/drawing/2014/main" id="{B480814B-39F0-8EEB-6025-E4BA534FE5C9}"/>
              </a:ext>
            </a:extLst>
          </p:cNvPr>
          <p:cNvSpPr txBox="1"/>
          <p:nvPr/>
        </p:nvSpPr>
        <p:spPr>
          <a:xfrm>
            <a:off x="2210498" y="5459897"/>
            <a:ext cx="19963004" cy="34265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>
                <a:solidFill>
                  <a:schemeClr val="tx1"/>
                </a:solidFill>
              </a:rPr>
              <a:t>• Full informal assessment on entry, covering all developmental areas</a:t>
            </a:r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endParaRPr lang="en-US" dirty="0">
              <a:solidFill>
                <a:schemeClr val="tx1"/>
              </a:solidFill>
            </a:endParaRPr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>
                <a:solidFill>
                  <a:schemeClr val="tx1"/>
                </a:solidFill>
              </a:rPr>
              <a:t>• Repeated at the start of each academic year : progress measured against the child, not a norm</a:t>
            </a:r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endParaRPr lang="en-US" dirty="0">
              <a:solidFill>
                <a:schemeClr val="tx1"/>
              </a:solidFill>
            </a:endParaRPr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>
                <a:solidFill>
                  <a:schemeClr val="tx1"/>
                </a:solidFill>
              </a:rPr>
              <a:t>• IEP written from the assessment, not from the diagnosis</a:t>
            </a:r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endParaRPr lang="en-US" dirty="0">
              <a:solidFill>
                <a:schemeClr val="tx1"/>
              </a:solidFill>
            </a:endParaRPr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>
                <a:solidFill>
                  <a:schemeClr val="tx1"/>
                </a:solidFill>
              </a:rPr>
              <a:t>• Three formal IEP meetings per year with families: share, discuss, align</a:t>
            </a:r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endParaRPr lang="en-US" dirty="0">
              <a:solidFill>
                <a:schemeClr val="tx1"/>
              </a:solidFill>
            </a:endParaRPr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>
                <a:solidFill>
                  <a:schemeClr val="tx1"/>
                </a:solidFill>
              </a:rPr>
              <a:t>• Goals reviewed and rewritten as the child moves, not annually by default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3F9A4944-C964-1141-D90B-3617E31CB5EB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7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99646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Use Arial bold 50pt size for title text here"/>
          <p:cNvSpPr txBox="1"/>
          <p:nvPr/>
        </p:nvSpPr>
        <p:spPr>
          <a:xfrm>
            <a:off x="2188868" y="2434543"/>
            <a:ext cx="17641980" cy="8720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sz="5000">
                <a:solidFill>
                  <a:schemeClr val="accent1">
                    <a:lumOff val="-13575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dirty="0">
                <a:solidFill>
                  <a:srgbClr val="1F0137"/>
                </a:solidFill>
              </a:rPr>
              <a:t>On the Calendar, Not on the Sidelines</a:t>
            </a:r>
            <a:endParaRPr dirty="0">
              <a:solidFill>
                <a:srgbClr val="1F0137"/>
              </a:solidFill>
            </a:endParaRPr>
          </a:p>
        </p:txBody>
      </p:sp>
      <p:sp>
        <p:nvSpPr>
          <p:cNvPr id="147" name="Use Arial regular 35pt size for sub-title text here"/>
          <p:cNvSpPr txBox="1"/>
          <p:nvPr/>
        </p:nvSpPr>
        <p:spPr>
          <a:xfrm>
            <a:off x="2210498" y="3322055"/>
            <a:ext cx="9981502" cy="11798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algn="l">
              <a:defRPr sz="3500" b="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dirty="0"/>
              <a:t>Saudi National Day · Founding Day · End-of-Year Show · whole-school celebrations</a:t>
            </a:r>
            <a:endParaRPr dirty="0"/>
          </a:p>
        </p:txBody>
      </p:sp>
      <p:sp>
        <p:nvSpPr>
          <p:cNvPr id="148" name="Use Arial regular 24pt size for body copy text here…"/>
          <p:cNvSpPr txBox="1"/>
          <p:nvPr/>
        </p:nvSpPr>
        <p:spPr>
          <a:xfrm>
            <a:off x="2210498" y="6114123"/>
            <a:ext cx="9385591" cy="4534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/>
              <a:t>• Our children are on the participation list from the first planning meeting, not added once the plan is set</a:t>
            </a:r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endParaRPr lang="en-US" dirty="0"/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/>
              <a:t>• Schedules aligned with school administration in advance, so rehearsals and events fit our timetable rather than clash with it</a:t>
            </a:r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endParaRPr lang="en-US" dirty="0"/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/>
              <a:t>• Every child has a prepared, rehearsed role</a:t>
            </a:r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endParaRPr lang="en-US" dirty="0"/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/>
              <a:t>• Rehearsal in the real space, before the day</a:t>
            </a:r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endParaRPr lang="en-US" dirty="0"/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/>
              <a:t>This required administrative collaboration, not goodwill. Goodwill arrives too late in the planning cycle.</a:t>
            </a:r>
            <a:endParaRPr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E6FFCD48-2970-163B-B4A1-DD39E2E1C8A7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8</a:t>
            </a:fld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995261-B224-50FB-4936-0B7FF8C2FC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15460" y="3306577"/>
            <a:ext cx="6680914" cy="890920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C2134-7BB8-F514-53B1-C21639F60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Use Arial bold 50pt size for title text here">
            <a:extLst>
              <a:ext uri="{FF2B5EF4-FFF2-40B4-BE49-F238E27FC236}">
                <a16:creationId xmlns:a16="http://schemas.microsoft.com/office/drawing/2014/main" id="{9DF945A9-79D0-7183-B07E-B9578987218D}"/>
              </a:ext>
            </a:extLst>
          </p:cNvPr>
          <p:cNvSpPr txBox="1"/>
          <p:nvPr/>
        </p:nvSpPr>
        <p:spPr>
          <a:xfrm>
            <a:off x="2188868" y="2434543"/>
            <a:ext cx="17641980" cy="8720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sz="5000">
                <a:solidFill>
                  <a:schemeClr val="accent1">
                    <a:lumOff val="-13575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dirty="0">
                <a:solidFill>
                  <a:srgbClr val="1F0137"/>
                </a:solidFill>
              </a:rPr>
              <a:t>Music, Every Week, All Year</a:t>
            </a:r>
            <a:endParaRPr dirty="0">
              <a:solidFill>
                <a:srgbClr val="1F0137"/>
              </a:solidFill>
            </a:endParaRPr>
          </a:p>
        </p:txBody>
      </p:sp>
      <p:sp>
        <p:nvSpPr>
          <p:cNvPr id="147" name="Use Arial regular 35pt size for sub-title text here">
            <a:extLst>
              <a:ext uri="{FF2B5EF4-FFF2-40B4-BE49-F238E27FC236}">
                <a16:creationId xmlns:a16="http://schemas.microsoft.com/office/drawing/2014/main" id="{E8C0C3EF-E058-89D0-A129-F578460FE229}"/>
              </a:ext>
            </a:extLst>
          </p:cNvPr>
          <p:cNvSpPr txBox="1"/>
          <p:nvPr/>
        </p:nvSpPr>
        <p:spPr>
          <a:xfrm>
            <a:off x="2210498" y="3591359"/>
            <a:ext cx="9981502" cy="64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algn="l">
              <a:defRPr sz="3500" b="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dirty="0"/>
              <a:t>One scheduled commitment, sustained</a:t>
            </a:r>
            <a:endParaRPr dirty="0"/>
          </a:p>
        </p:txBody>
      </p:sp>
      <p:sp>
        <p:nvSpPr>
          <p:cNvPr id="148" name="Use Arial regular 24pt size for body copy text here…">
            <a:extLst>
              <a:ext uri="{FF2B5EF4-FFF2-40B4-BE49-F238E27FC236}">
                <a16:creationId xmlns:a16="http://schemas.microsoft.com/office/drawing/2014/main" id="{A933F356-A7F1-6DDC-99C6-03CEC6819304}"/>
              </a:ext>
            </a:extLst>
          </p:cNvPr>
          <p:cNvSpPr txBox="1"/>
          <p:nvPr/>
        </p:nvSpPr>
        <p:spPr>
          <a:xfrm>
            <a:off x="2210498" y="5560126"/>
            <a:ext cx="9385591" cy="56425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/>
              <a:t>Every child in the provision attends music in the main school; for the full academic year.</a:t>
            </a:r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endParaRPr lang="en-US" dirty="0"/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/>
              <a:t>• Accompanied by a member of the Nest team, every session</a:t>
            </a:r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endParaRPr lang="en-US" dirty="0"/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/>
              <a:t>• Same slot, same room, same peers, predictability is what makes it work</a:t>
            </a:r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endParaRPr lang="en-US" dirty="0"/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/>
              <a:t>• Not a trial, not a reward, not conditional on </a:t>
            </a:r>
            <a:r>
              <a:rPr lang="en-US" dirty="0" err="1"/>
              <a:t>behaviour</a:t>
            </a:r>
            <a:endParaRPr lang="en-US" dirty="0"/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endParaRPr lang="en-US" dirty="0"/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/>
              <a:t>• A shared, non-verbal subject where our children participate on equal terms</a:t>
            </a:r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endParaRPr lang="en-US" dirty="0"/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r>
              <a:rPr lang="en-US" dirty="0"/>
              <a:t>One consistent weekly commitment did more for belonging than any number of one-off visits.</a:t>
            </a:r>
            <a:endParaRPr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7A135D87-781D-F86A-5641-57BF912A599A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9</a:t>
            </a:fld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94CA03-9D8F-A660-E574-1D9AD1EB67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25402" y="2434543"/>
            <a:ext cx="5434194" cy="6456132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4D80FAA4-0846-E001-67CA-116FECA2A46D}"/>
              </a:ext>
            </a:extLst>
          </p:cNvPr>
          <p:cNvSpPr/>
          <p:nvPr/>
        </p:nvSpPr>
        <p:spPr>
          <a:xfrm>
            <a:off x="12929191" y="4657060"/>
            <a:ext cx="808074" cy="8720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43067F9-C226-A53C-F50A-D4B976E6BE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29915" y="4325431"/>
            <a:ext cx="4577685" cy="8111960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78931681-CA58-65FD-453B-F8213A5B07E6}"/>
              </a:ext>
            </a:extLst>
          </p:cNvPr>
          <p:cNvSpPr/>
          <p:nvPr/>
        </p:nvSpPr>
        <p:spPr>
          <a:xfrm>
            <a:off x="20499572" y="6858000"/>
            <a:ext cx="1105786" cy="11164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209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Use Arial bold 50pt size for title text here"/>
          <p:cNvSpPr txBox="1"/>
          <p:nvPr/>
        </p:nvSpPr>
        <p:spPr>
          <a:xfrm>
            <a:off x="2188868" y="2293708"/>
            <a:ext cx="17641980" cy="8720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sz="5000">
                <a:solidFill>
                  <a:schemeClr val="accent1">
                    <a:lumOff val="-13575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dirty="0">
                <a:solidFill>
                  <a:srgbClr val="1F0137"/>
                </a:solidFill>
              </a:rPr>
              <a:t>Parents as Partners, Weekly</a:t>
            </a:r>
          </a:p>
        </p:txBody>
      </p:sp>
      <p:sp>
        <p:nvSpPr>
          <p:cNvPr id="156" name="Use Arial regular 35pt size for sub-title text here"/>
          <p:cNvSpPr txBox="1"/>
          <p:nvPr/>
        </p:nvSpPr>
        <p:spPr>
          <a:xfrm>
            <a:off x="2210498" y="3450525"/>
            <a:ext cx="13632550" cy="64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sz="3500" b="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dirty="0"/>
              <a:t>And part of beneficial events </a:t>
            </a:r>
            <a:endParaRPr dirty="0"/>
          </a:p>
        </p:txBody>
      </p:sp>
      <p:sp>
        <p:nvSpPr>
          <p:cNvPr id="157" name="Use Arial regular 24pt size for body copy text here…"/>
          <p:cNvSpPr txBox="1"/>
          <p:nvPr/>
        </p:nvSpPr>
        <p:spPr>
          <a:xfrm>
            <a:off x="2210498" y="4379017"/>
            <a:ext cx="12760144" cy="1210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0" dirty="0">
                <a:latin typeface="Arial"/>
                <a:sym typeface="Arial"/>
              </a:rPr>
              <a:t>• A weekly report to every family: activities, goals, </a:t>
            </a:r>
            <a:r>
              <a:rPr lang="en-US" sz="2400" b="0" dirty="0" err="1">
                <a:latin typeface="Arial"/>
                <a:sym typeface="Arial"/>
              </a:rPr>
              <a:t>behaviour</a:t>
            </a:r>
            <a:r>
              <a:rPr lang="en-US" sz="2400" b="0" dirty="0">
                <a:latin typeface="Arial"/>
                <a:sym typeface="Arial"/>
              </a:rPr>
              <a:t>, snapshots of the week, and specific recommendations to continue at home </a:t>
            </a:r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0" dirty="0">
                <a:latin typeface="Arial"/>
                <a:sym typeface="Arial"/>
              </a:rPr>
              <a:t>• A themed calendar for the whole provision, shared with families at the start of the year 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2171199C-FB0A-C06B-276D-65E3B1E19FE5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10</a:t>
            </a:fld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5C8049-B83D-D0E3-293D-891A25625A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619" y="7974419"/>
            <a:ext cx="6288689" cy="45682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80662B6-B92F-3C81-3C34-A1FC3F7C3A86}"/>
              </a:ext>
            </a:extLst>
          </p:cNvPr>
          <p:cNvSpPr txBox="1"/>
          <p:nvPr/>
        </p:nvSpPr>
        <p:spPr>
          <a:xfrm>
            <a:off x="8882484" y="10294056"/>
            <a:ext cx="1219554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0" dirty="0">
                <a:latin typeface="Arial"/>
                <a:sym typeface="Arial"/>
              </a:rPr>
              <a:t>• The Nest Moves Together; families join goal-directed activities alongside their children </a:t>
            </a:r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0" dirty="0">
                <a:latin typeface="Arial"/>
                <a:sym typeface="Arial"/>
              </a:rPr>
              <a:t>• Every activity accompanied by a brochure: the goal, the materials, how to run it at home </a:t>
            </a:r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0" dirty="0">
                <a:latin typeface="Arial"/>
                <a:sym typeface="Arial"/>
              </a:rPr>
              <a:t>• When parents see the purpose behind the play, they stop watching and start teaching.</a:t>
            </a:r>
            <a:endParaRPr lang="en-US" sz="2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A2A2AC0-DC8E-B392-58D8-F9F1159C7A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19715" y="2079692"/>
            <a:ext cx="7487652" cy="8214364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5EBC21A0-8AFD-E531-B567-6E8DFF883E9E}"/>
              </a:ext>
            </a:extLst>
          </p:cNvPr>
          <p:cNvSpPr/>
          <p:nvPr/>
        </p:nvSpPr>
        <p:spPr>
          <a:xfrm>
            <a:off x="16884502" y="4984311"/>
            <a:ext cx="850605" cy="7899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D99CFE0-CCA1-7CCA-0FBF-A5E796CE701E}"/>
              </a:ext>
            </a:extLst>
          </p:cNvPr>
          <p:cNvSpPr/>
          <p:nvPr/>
        </p:nvSpPr>
        <p:spPr>
          <a:xfrm>
            <a:off x="18458121" y="4742121"/>
            <a:ext cx="489098" cy="59542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027718A-9B0A-1B88-C277-6BCE13F7BC3F}"/>
              </a:ext>
            </a:extLst>
          </p:cNvPr>
          <p:cNvSpPr/>
          <p:nvPr/>
        </p:nvSpPr>
        <p:spPr>
          <a:xfrm>
            <a:off x="17075888" y="7756898"/>
            <a:ext cx="659219" cy="7899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1BDE615-CEAC-4400-1FAC-7ECC11AE7B09}"/>
              </a:ext>
            </a:extLst>
          </p:cNvPr>
          <p:cNvSpPr/>
          <p:nvPr/>
        </p:nvSpPr>
        <p:spPr>
          <a:xfrm>
            <a:off x="15704556" y="7439395"/>
            <a:ext cx="659219" cy="8720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FCC62-B054-C8CD-6777-CCD376310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Use Arial bold 50pt size for title text here">
            <a:extLst>
              <a:ext uri="{FF2B5EF4-FFF2-40B4-BE49-F238E27FC236}">
                <a16:creationId xmlns:a16="http://schemas.microsoft.com/office/drawing/2014/main" id="{70DD7ACC-CE8A-92BF-47FC-2BAD83D2818F}"/>
              </a:ext>
            </a:extLst>
          </p:cNvPr>
          <p:cNvSpPr txBox="1"/>
          <p:nvPr/>
        </p:nvSpPr>
        <p:spPr>
          <a:xfrm>
            <a:off x="2188868" y="2516733"/>
            <a:ext cx="17641980" cy="8720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sz="5000">
                <a:solidFill>
                  <a:schemeClr val="accent1">
                    <a:lumOff val="-13575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1"/>
            <a:r>
              <a:rPr lang="en-US" sz="5000" dirty="0"/>
              <a:t>Three Children to Thirty </a:t>
            </a:r>
            <a:endParaRPr lang="en-US" sz="5000" dirty="0">
              <a:solidFill>
                <a:srgbClr val="1F013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1" name="Use Arial regular 35pt size for sub-title text here">
            <a:extLst>
              <a:ext uri="{FF2B5EF4-FFF2-40B4-BE49-F238E27FC236}">
                <a16:creationId xmlns:a16="http://schemas.microsoft.com/office/drawing/2014/main" id="{EA816023-5AC5-C327-9B3E-514A8A97CB25}"/>
              </a:ext>
            </a:extLst>
          </p:cNvPr>
          <p:cNvSpPr txBox="1"/>
          <p:nvPr/>
        </p:nvSpPr>
        <p:spPr>
          <a:xfrm>
            <a:off x="2210498" y="3673550"/>
            <a:ext cx="13632550" cy="64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sz="3500" b="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dirty="0"/>
              <a:t>Term 3, 2024–2025 to today</a:t>
            </a:r>
            <a:endParaRPr dirty="0"/>
          </a:p>
        </p:txBody>
      </p:sp>
      <p:sp>
        <p:nvSpPr>
          <p:cNvPr id="142" name="Use Arial regular 24pt size for body copy text here…">
            <a:extLst>
              <a:ext uri="{FF2B5EF4-FFF2-40B4-BE49-F238E27FC236}">
                <a16:creationId xmlns:a16="http://schemas.microsoft.com/office/drawing/2014/main" id="{7884103C-0AB2-CA82-7C84-97FB06B3C1DD}"/>
              </a:ext>
            </a:extLst>
          </p:cNvPr>
          <p:cNvSpPr txBox="1"/>
          <p:nvPr/>
        </p:nvSpPr>
        <p:spPr>
          <a:xfrm>
            <a:off x="1976045" y="4988410"/>
            <a:ext cx="11102001" cy="34265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0" dirty="0">
                <a:latin typeface="Arial"/>
                <a:sym typeface="Arial"/>
              </a:rPr>
              <a:t>• Opened with 3 children in one class </a:t>
            </a:r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0" dirty="0">
                <a:latin typeface="Arial"/>
                <a:sym typeface="Arial"/>
              </a:rPr>
              <a:t>• Today: 30 children across 5 classes, spanning different levels </a:t>
            </a:r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0" dirty="0">
                <a:latin typeface="Arial"/>
                <a:sym typeface="Arial"/>
              </a:rPr>
              <a:t>• Staffed throughout at 6 children to 3 adults </a:t>
            </a:r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endParaRPr lang="en-US" sz="2400" b="0" dirty="0">
              <a:latin typeface="Arial"/>
              <a:sym typeface="Arial"/>
            </a:endParaRPr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0" dirty="0">
                <a:solidFill>
                  <a:srgbClr val="FF0000"/>
                </a:solidFill>
                <a:latin typeface="Arial"/>
                <a:sym typeface="Arial"/>
              </a:rPr>
              <a:t>And one child, this academic year, moved fully into a mainstream class, after a full year in the provision, with a transition plan built jointly with the school's inclusion department to protect against regression. Growth is not the measure. What the growth made possible is.</a:t>
            </a:r>
          </a:p>
          <a:p>
            <a:pPr algn="l">
              <a:defRPr sz="2400" b="0">
                <a:latin typeface="Arial"/>
                <a:ea typeface="Arial"/>
                <a:cs typeface="Arial"/>
                <a:sym typeface="Arial"/>
              </a:defRPr>
            </a:pPr>
            <a:endParaRPr lang="en-US" sz="2400" b="0" dirty="0">
              <a:solidFill>
                <a:srgbClr val="FF0000"/>
              </a:solidFill>
              <a:latin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FD8F2E-D71A-255E-2C5B-3E250E06990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545880" y="3802860"/>
            <a:ext cx="10434084" cy="8854926"/>
          </a:xfrm>
          <a:prstGeom prst="rect">
            <a:avLst/>
          </a:prstGeom>
        </p:spPr>
      </p:pic>
      <p:sp>
        <p:nvSpPr>
          <p:cNvPr id="2" name="Slide Number">
            <a:extLst>
              <a:ext uri="{FF2B5EF4-FFF2-40B4-BE49-F238E27FC236}">
                <a16:creationId xmlns:a16="http://schemas.microsoft.com/office/drawing/2014/main" id="{2031A2ED-DD0B-6143-B3B6-1158FC57C4EA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11</a:t>
            </a:fld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BF9D18-4771-E26A-654A-6630FB49F6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5149" y="9088648"/>
            <a:ext cx="3352972" cy="330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773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04887F-9906-F6DB-2841-6AB7DE33D1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4" name="Use Arial bold 65pt size for title text here">
            <a:extLst>
              <a:ext uri="{FF2B5EF4-FFF2-40B4-BE49-F238E27FC236}">
                <a16:creationId xmlns:a16="http://schemas.microsoft.com/office/drawing/2014/main" id="{EEF267C2-C409-ACC0-EF33-A761468537DC}"/>
              </a:ext>
            </a:extLst>
          </p:cNvPr>
          <p:cNvSpPr txBox="1"/>
          <p:nvPr/>
        </p:nvSpPr>
        <p:spPr>
          <a:xfrm>
            <a:off x="4985086" y="3233727"/>
            <a:ext cx="14919063" cy="54886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algn="r">
              <a:defRPr sz="6500">
                <a:solidFill>
                  <a:schemeClr val="accent1">
                    <a:lumOff val="-13575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/>
            <a:r>
              <a:rPr lang="en-US" sz="5000" b="0" dirty="0">
                <a:latin typeface="Arial" panose="020B0604020202020204" pitchFamily="34" charset="0"/>
                <a:cs typeface="Arial" panose="020B0604020202020204" pitchFamily="34" charset="0"/>
              </a:rPr>
              <a:t>George Habib Head of SEN Unit (The Griffin Nest) at Beech Hall School Riyadh </a:t>
            </a:r>
          </a:p>
          <a:p>
            <a:pPr marL="685800" indent="-685800" algn="l">
              <a:buFontTx/>
              <a:buChar char="-"/>
            </a:pPr>
            <a:r>
              <a:rPr lang="en-US" sz="5000" b="0" dirty="0">
                <a:latin typeface="Arial" panose="020B0604020202020204" pitchFamily="34" charset="0"/>
                <a:cs typeface="Arial" panose="020B0604020202020204" pitchFamily="34" charset="0"/>
              </a:rPr>
              <a:t>Founded and leads The Nest, the high-acuity provision at Beech Hall School Riyadh</a:t>
            </a:r>
          </a:p>
          <a:p>
            <a:pPr marL="685800" indent="-685800" algn="l">
              <a:buFontTx/>
              <a:buChar char="-"/>
            </a:pPr>
            <a:r>
              <a:rPr lang="en-US" sz="5000" b="0" dirty="0">
                <a:latin typeface="Arial" panose="020B0604020202020204" pitchFamily="34" charset="0"/>
                <a:cs typeface="Arial" panose="020B0604020202020204" pitchFamily="34" charset="0"/>
              </a:rPr>
              <a:t>University Instructor at Saint Joseph University of Beirut</a:t>
            </a:r>
          </a:p>
          <a:p>
            <a:pPr algn="l"/>
            <a:r>
              <a:rPr lang="en-US" sz="5000" b="0" dirty="0">
                <a:solidFill>
                  <a:srgbClr val="291B4E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George.habib@beechhallschoolriyadh.com</a:t>
            </a:r>
            <a:r>
              <a:rPr lang="en-US" sz="5000" b="0" dirty="0">
                <a:solidFill>
                  <a:srgbClr val="291B4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sz="5000" dirty="0">
              <a:solidFill>
                <a:srgbClr val="291B4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78A535-4077-8325-1717-D13AF967F8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87910" y="9438077"/>
            <a:ext cx="3529672" cy="35622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58486B-4546-F894-2A73-1CC1502DC7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1512" y="9438077"/>
            <a:ext cx="1759040" cy="1835244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0C111ED-0E57-1681-E2DF-AD26478758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4" name="Use Arial bold 65pt size for title text here">
            <a:extLst>
              <a:ext uri="{FF2B5EF4-FFF2-40B4-BE49-F238E27FC236}">
                <a16:creationId xmlns:a16="http://schemas.microsoft.com/office/drawing/2014/main" id="{E9BFAF37-1261-1364-9C4B-1B5464EB7297}"/>
              </a:ext>
            </a:extLst>
          </p:cNvPr>
          <p:cNvSpPr txBox="1"/>
          <p:nvPr/>
        </p:nvSpPr>
        <p:spPr>
          <a:xfrm>
            <a:off x="5155206" y="5605333"/>
            <a:ext cx="11125575" cy="2103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algn="r">
              <a:defRPr sz="6500">
                <a:solidFill>
                  <a:schemeClr val="accent1">
                    <a:lumOff val="-13575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l"/>
            <a:r>
              <a:rPr lang="en-GB" dirty="0">
                <a:solidFill>
                  <a:srgbClr val="291B4E"/>
                </a:solidFill>
                <a:latin typeface="FilsonW01-Bold" panose="02000000000000000000" pitchFamily="2" charset="0"/>
              </a:rPr>
              <a:t>Thank You for attending this presentation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ArchiverLinkFileType xmlns="9d4e7eed-fefc-43d4-9f2f-fecfc42e1877" xsi:nil="true"/>
    <lcf76f155ced4ddcb4097134ff3c332f xmlns="9d4e7eed-fefc-43d4-9f2f-fecfc42e1877">
      <Terms xmlns="http://schemas.microsoft.com/office/infopath/2007/PartnerControls"/>
    </lcf76f155ced4ddcb4097134ff3c332f>
    <TaxCatchAll xmlns="43521e73-0b1a-44cf-b2ea-bc658ba30475" xsi:nil="true"/>
    <SharedWithUsers xmlns="43521e73-0b1a-44cf-b2ea-bc658ba30475">
      <UserInfo>
        <DisplayName/>
        <AccountId xsi:nil="true"/>
        <AccountType/>
      </UserInfo>
    </SharedWithUsers>
    <_vti_ItemDeclaredRecord xmlns="http://schemas.microsoft.com/sharepoint/v3" xsi:nil="true"/>
    <_vti_ItemHoldRecordStatu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2410E38B8B66649ABA5CBD882FBE15C" ma:contentTypeVersion="22" ma:contentTypeDescription="Create a new document." ma:contentTypeScope="" ma:versionID="2efdc3739ed880c055cede91fe1f789d">
  <xsd:schema xmlns:xsd="http://www.w3.org/2001/XMLSchema" xmlns:xs="http://www.w3.org/2001/XMLSchema" xmlns:p="http://schemas.microsoft.com/office/2006/metadata/properties" xmlns:ns1="http://schemas.microsoft.com/sharepoint/v3" xmlns:ns2="9d4e7eed-fefc-43d4-9f2f-fecfc42e1877" xmlns:ns3="43521e73-0b1a-44cf-b2ea-bc658ba30475" xmlns:ns4="http://schemas.microsoft.com/sharepoint/v4" targetNamespace="http://schemas.microsoft.com/office/2006/metadata/properties" ma:root="true" ma:fieldsID="42fe372c1c8729df4655f2473162d3d0" ns1:_="" ns2:_="" ns3:_="" ns4:_="">
    <xsd:import namespace="http://schemas.microsoft.com/sharepoint/v3"/>
    <xsd:import namespace="9d4e7eed-fefc-43d4-9f2f-fecfc42e1877"/>
    <xsd:import namespace="43521e73-0b1a-44cf-b2ea-bc658ba30475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BillingMetadata" minOccurs="0"/>
                <xsd:element ref="ns2:ArchiverLinkFileType" minOccurs="0"/>
                <xsd:element ref="ns4:IconOverlay" minOccurs="0"/>
                <xsd:element ref="ns1:_vti_ItemDeclaredRecord" minOccurs="0"/>
                <xsd:element ref="ns1:_vti_ItemHoldRecord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vti_ItemDeclaredRecord" ma:index="26" nillable="true" ma:displayName="Declared Record" ma:hidden="true" ma:internalName="_vti_ItemDeclaredRecord" ma:readOnly="true">
      <xsd:simpleType>
        <xsd:restriction base="dms:DateTime"/>
      </xsd:simpleType>
    </xsd:element>
    <xsd:element name="_vti_ItemHoldRecordStatus" ma:index="27" nillable="true" ma:displayName="Hold and Record Status" ma:decimals="0" ma:hidden="true" ma:internalName="_vti_ItemHoldRecordStatu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4e7eed-fefc-43d4-9f2f-fecfc42e187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bdc0606b-8e5a-4aee-a68c-f4efcab0e83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  <xsd:element name="ArchiverLinkFileType" ma:index="24" nillable="true" ma:displayName="ArchiverLinkFileType" ma:hidden="true" ma:internalName="ArchiverLinkFileTyp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521e73-0b1a-44cf-b2ea-bc658ba30475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25a0f3aa-9d1e-4369-ad67-8264e91daee8}" ma:internalName="TaxCatchAll" ma:showField="CatchAllData" ma:web="43521e73-0b1a-44cf-b2ea-bc658ba304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25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C13F7E0-4709-4DB4-8356-C284899A035D}">
  <ds:schemaRefs>
    <ds:schemaRef ds:uri="http://schemas.microsoft.com/office/2006/metadata/properties"/>
    <ds:schemaRef ds:uri="http://schemas.microsoft.com/office/infopath/2007/PartnerControls"/>
    <ds:schemaRef ds:uri="http://schemas.microsoft.com/sharepoint/v4"/>
    <ds:schemaRef ds:uri="9d4e7eed-fefc-43d4-9f2f-fecfc42e1877"/>
    <ds:schemaRef ds:uri="43521e73-0b1a-44cf-b2ea-bc658ba30475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E9A81ACD-16D2-46B0-8B8E-72C1E9FF363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079B16F-18D0-4EEF-8845-E14AB4AD913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9d4e7eed-fefc-43d4-9f2f-fecfc42e1877"/>
    <ds:schemaRef ds:uri="43521e73-0b1a-44cf-b2ea-bc658ba30475"/>
    <ds:schemaRef ds:uri="http://schemas.microsoft.com/sharepoint/v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1291</TotalTime>
  <Words>1073</Words>
  <Application>Microsoft Office PowerPoint</Application>
  <PresentationFormat>Custom</PresentationFormat>
  <Paragraphs>129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Aptos</vt:lpstr>
      <vt:lpstr>Aptos Display</vt:lpstr>
      <vt:lpstr>Arial</vt:lpstr>
      <vt:lpstr>FilsonW01-Bold</vt:lpstr>
      <vt:lpstr>FilsonW01-Medium</vt:lpstr>
      <vt:lpstr>Helvetica Neue</vt:lpstr>
      <vt:lpstr>Helvetica Neue Light</vt:lpstr>
      <vt:lpstr>Helvetica Neue Medium</vt:lpstr>
      <vt:lpstr>White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Chiragh, Saahil</dc:creator>
  <cp:lastModifiedBy>Georges Habib</cp:lastModifiedBy>
  <cp:revision>31</cp:revision>
  <dcterms:modified xsi:type="dcterms:W3CDTF">2026-09-24T17:45:59Z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bbab825-a111-45e4-86a1-18cee0005896_Enabled">
    <vt:lpwstr>true</vt:lpwstr>
  </property>
  <property fmtid="{D5CDD505-2E9C-101B-9397-08002B2CF9AE}" pid="3" name="MSIP_Label_2bbab825-a111-45e4-86a1-18cee0005896_SetDate">
    <vt:lpwstr>2023-04-11T08:11:09Z</vt:lpwstr>
  </property>
  <property fmtid="{D5CDD505-2E9C-101B-9397-08002B2CF9AE}" pid="4" name="MSIP_Label_2bbab825-a111-45e4-86a1-18cee0005896_Method">
    <vt:lpwstr>Standard</vt:lpwstr>
  </property>
  <property fmtid="{D5CDD505-2E9C-101B-9397-08002B2CF9AE}" pid="5" name="MSIP_Label_2bbab825-a111-45e4-86a1-18cee0005896_Name">
    <vt:lpwstr>2bbab825-a111-45e4-86a1-18cee0005896</vt:lpwstr>
  </property>
  <property fmtid="{D5CDD505-2E9C-101B-9397-08002B2CF9AE}" pid="6" name="MSIP_Label_2bbab825-a111-45e4-86a1-18cee0005896_SiteId">
    <vt:lpwstr>2567d566-604c-408a-8a60-55d0dc9d9d6b</vt:lpwstr>
  </property>
  <property fmtid="{D5CDD505-2E9C-101B-9397-08002B2CF9AE}" pid="7" name="MSIP_Label_2bbab825-a111-45e4-86a1-18cee0005896_ActionId">
    <vt:lpwstr>5912d0e0-0339-4720-a686-908ec9b493e8</vt:lpwstr>
  </property>
  <property fmtid="{D5CDD505-2E9C-101B-9397-08002B2CF9AE}" pid="8" name="MSIP_Label_2bbab825-a111-45e4-86a1-18cee0005896_ContentBits">
    <vt:lpwstr>2</vt:lpwstr>
  </property>
  <property fmtid="{D5CDD505-2E9C-101B-9397-08002B2CF9AE}" pid="9" name="ContentTypeId">
    <vt:lpwstr>0x010100A2410E38B8B66649ABA5CBD882FBE15C</vt:lpwstr>
  </property>
  <property fmtid="{D5CDD505-2E9C-101B-9397-08002B2CF9AE}" pid="10" name="Order">
    <vt:r8>120110300</vt:r8>
  </property>
  <property fmtid="{D5CDD505-2E9C-101B-9397-08002B2CF9AE}" pid="11" name="Salesforce">
    <vt:bool>true</vt:bool>
  </property>
  <property fmtid="{D5CDD505-2E9C-101B-9397-08002B2CF9AE}" pid="12" name="xd_ProgID">
    <vt:lpwstr/>
  </property>
  <property fmtid="{D5CDD505-2E9C-101B-9397-08002B2CF9AE}" pid="13" name="MediaServiceImageTags">
    <vt:lpwstr/>
  </property>
  <property fmtid="{D5CDD505-2E9C-101B-9397-08002B2CF9AE}" pid="14" name="_SourceUrl">
    <vt:lpwstr/>
  </property>
  <property fmtid="{D5CDD505-2E9C-101B-9397-08002B2CF9AE}" pid="15" name="_SharedFileIndex">
    <vt:lpwstr/>
  </property>
  <property fmtid="{D5CDD505-2E9C-101B-9397-08002B2CF9AE}" pid="16" name="ComplianceAssetId">
    <vt:lpwstr/>
  </property>
  <property fmtid="{D5CDD505-2E9C-101B-9397-08002B2CF9AE}" pid="17" name="TemplateUrl">
    <vt:lpwstr/>
  </property>
  <property fmtid="{D5CDD505-2E9C-101B-9397-08002B2CF9AE}" pid="18" name="_ExtendedDescription">
    <vt:lpwstr/>
  </property>
  <property fmtid="{D5CDD505-2E9C-101B-9397-08002B2CF9AE}" pid="19" name="TriggerFlowInfo">
    <vt:lpwstr/>
  </property>
  <property fmtid="{D5CDD505-2E9C-101B-9397-08002B2CF9AE}" pid="20" name="xd_Signature">
    <vt:bool>false</vt:bool>
  </property>
  <property fmtid="{D5CDD505-2E9C-101B-9397-08002B2CF9AE}" pid="21" name="OnSalesforce">
    <vt:bool>true</vt:bool>
  </property>
</Properties>
</file>